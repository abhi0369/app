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7500" y="165100"/>
            <a:ext cx="88900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93E2C"/>
                </a:solidFill>
                <a:latin typeface="Arial"/>
              </a:rPr>
              <a:t>Simulation Lab: Prove The Router Before The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7500" y="546100"/>
            <a:ext cx="9144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C2A22"/>
                </a:solidFill>
                <a:latin typeface="Arial"/>
              </a:rPr>
              <a:t>A five-minute digital twin turns the architecture into a testable operating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82200" y="127000"/>
            <a:ext cx="1041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3E2C"/>
                </a:solidFill>
                <a:latin typeface="Arial"/>
              </a:rPr>
              <a:t>RAYNEX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17300" y="50800"/>
            <a:ext cx="4826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93E2C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7300" y="431800"/>
            <a:ext cx="4826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5E6B63"/>
                </a:solidFill>
                <a:latin typeface="Arial"/>
              </a:rPr>
              <a:t>of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74400" y="635000"/>
            <a:ext cx="825500" cy="50800"/>
          </a:xfrm>
          <a:prstGeom prst="rect">
            <a:avLst/>
          </a:prstGeom>
          <a:solidFill>
            <a:srgbClr val="D5DECC"/>
          </a:solidFill>
          <a:ln>
            <a:solidFill>
              <a:srgbClr val="D5D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74400" y="635000"/>
            <a:ext cx="825500" cy="50800"/>
          </a:xfrm>
          <a:prstGeom prst="rect">
            <a:avLst/>
          </a:prstGeom>
          <a:solidFill>
            <a:srgbClr val="EAAA22"/>
          </a:solidFill>
          <a:ln>
            <a:solidFill>
              <a:srgbClr val="EA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7500" y="850900"/>
            <a:ext cx="8763000" cy="393700"/>
          </a:xfrm>
          <a:prstGeom prst="rect">
            <a:avLst/>
          </a:prstGeom>
          <a:solidFill>
            <a:srgbClr val="193E2C"/>
          </a:solidFill>
          <a:ln>
            <a:solidFill>
              <a:srgbClr val="19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500" y="952500"/>
            <a:ext cx="8509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One screen validates energy priority, water logic, cold safety and farmer decisions.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850900"/>
            <a:ext cx="2755900" cy="393700"/>
          </a:xfrm>
          <a:prstGeom prst="rect">
            <a:avLst/>
          </a:prstGeom>
          <a:solidFill>
            <a:srgbClr val="EAAA22"/>
          </a:solidFill>
          <a:ln>
            <a:solidFill>
              <a:srgbClr val="EA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58300" y="965200"/>
            <a:ext cx="2540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3E2C"/>
                </a:solidFill>
                <a:latin typeface="Arial"/>
              </a:rPr>
              <a:t>D4: Prototype · E5: Technical Approach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7500" y="1358900"/>
            <a:ext cx="7696199" cy="3937000"/>
          </a:xfrm>
          <a:prstGeom prst="rect">
            <a:avLst/>
          </a:prstGeom>
          <a:solidFill>
            <a:srgbClr val="FFFFFF"/>
          </a:solidFill>
          <a:ln>
            <a:solidFill>
              <a:srgbClr val="D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aynex_ui_snapsho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22400"/>
            <a:ext cx="7569200" cy="37846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44500" y="4902200"/>
            <a:ext cx="2108200" cy="254000"/>
          </a:xfrm>
          <a:prstGeom prst="roundRect">
            <a:avLst>
              <a:gd name="adj" fmla="val 8000"/>
            </a:avLst>
          </a:prstGeom>
          <a:solidFill>
            <a:srgbClr val="193E2C"/>
          </a:solidFill>
          <a:ln>
            <a:solidFill>
              <a:srgbClr val="19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6100" y="4953000"/>
            <a:ext cx="1905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Arial"/>
              </a:rPr>
              <a:t>LIVE FASTAPI + WEBSOCKET UI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40700" y="1358900"/>
            <a:ext cx="3759199" cy="1206500"/>
          </a:xfrm>
          <a:prstGeom prst="rect">
            <a:avLst/>
          </a:prstGeom>
          <a:solidFill>
            <a:srgbClr val="FFFFFF"/>
          </a:solidFill>
          <a:ln>
            <a:solidFill>
              <a:srgbClr val="D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40700" y="1358900"/>
            <a:ext cx="3759199" cy="279400"/>
          </a:xfrm>
          <a:prstGeom prst="rect">
            <a:avLst/>
          </a:prstGeom>
          <a:solidFill>
            <a:srgbClr val="193E2C"/>
          </a:solidFill>
          <a:ln>
            <a:solidFill>
              <a:srgbClr val="19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7699" y="1422400"/>
            <a:ext cx="34290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WHAT IT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714500"/>
            <a:ext cx="3556000" cy="812800"/>
          </a:xfrm>
          <a:prstGeom prst="rect">
            <a:avLst/>
          </a:prstGeom>
          <a:noFill/>
        </p:spPr>
        <p:txBody>
          <a:bodyPr wrap="square" lIns="63500" rIns="63500" tIns="25400">
            <a:spAutoFit/>
          </a:bodyPr>
          <a:lstStyle/>
          <a:p>
            <a:pPr>
              <a:spcAft>
                <a:spcPts val="350"/>
              </a:spcAft>
            </a:pPr>
            <a:r>
              <a:rPr sz="910" b="1">
                <a:solidFill>
                  <a:srgbClr val="193E2C"/>
                </a:solidFill>
                <a:latin typeface="Arial"/>
              </a:rPr>
              <a:t>15 kWp array · </a:t>
            </a:r>
            <a:r>
              <a:rPr sz="910">
                <a:solidFill>
                  <a:srgbClr val="1C2A22"/>
                </a:solidFill>
                <a:latin typeface="Arial"/>
              </a:rPr>
              <a:t>weather-shaped PV output</a:t>
            </a:r>
          </a:p>
          <a:p>
            <a:pPr>
              <a:spcAft>
                <a:spcPts val="350"/>
              </a:spcAft>
            </a:pPr>
            <a:r>
              <a:rPr sz="910" b="1">
                <a:solidFill>
                  <a:srgbClr val="193E2C"/>
                </a:solidFill>
                <a:latin typeface="Arial"/>
              </a:rPr>
              <a:t>Five jobs · </a:t>
            </a:r>
            <a:r>
              <a:rPr sz="910">
                <a:solidFill>
                  <a:srgbClr val="1C2A22"/>
                </a:solidFill>
                <a:latin typeface="Arial"/>
              </a:rPr>
              <a:t>cold → water → ice → dryer → grid</a:t>
            </a:r>
          </a:p>
          <a:p>
            <a:pPr>
              <a:spcAft>
                <a:spcPts val="350"/>
              </a:spcAft>
            </a:pPr>
            <a:r>
              <a:rPr sz="910" b="1">
                <a:solidFill>
                  <a:srgbClr val="193E2C"/>
                </a:solidFill>
                <a:latin typeface="Arial"/>
              </a:rPr>
              <a:t>Physical state · </a:t>
            </a:r>
            <a:r>
              <a:rPr sz="910">
                <a:solidFill>
                  <a:srgbClr val="1C2A22"/>
                </a:solidFill>
                <a:latin typeface="Arial"/>
              </a:rPr>
              <a:t>8 zones, probes, pump, 5 t room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40700" y="2628900"/>
            <a:ext cx="3759199" cy="1206500"/>
          </a:xfrm>
          <a:prstGeom prst="rect">
            <a:avLst/>
          </a:prstGeom>
          <a:solidFill>
            <a:srgbClr val="FFFFFF"/>
          </a:solidFill>
          <a:ln>
            <a:solidFill>
              <a:srgbClr val="D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40700" y="2628900"/>
            <a:ext cx="3759199" cy="279400"/>
          </a:xfrm>
          <a:prstGeom prst="rect">
            <a:avLst/>
          </a:prstGeom>
          <a:solidFill>
            <a:srgbClr val="193E2C"/>
          </a:solidFill>
          <a:ln>
            <a:solidFill>
              <a:srgbClr val="19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7699" y="2692400"/>
            <a:ext cx="34290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HOW TO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984500"/>
            <a:ext cx="3556000" cy="812800"/>
          </a:xfrm>
          <a:prstGeom prst="rect">
            <a:avLst/>
          </a:prstGeom>
          <a:noFill/>
        </p:spPr>
        <p:txBody>
          <a:bodyPr wrap="square" lIns="63500" rIns="63500" tIns="25400">
            <a:spAutoFit/>
          </a:bodyPr>
          <a:lstStyle/>
          <a:p>
            <a:pPr>
              <a:spcAft>
                <a:spcPts val="350"/>
              </a:spcAft>
            </a:pPr>
            <a:r>
              <a:rPr sz="910" b="1">
                <a:solidFill>
                  <a:srgbClr val="193E2C"/>
                </a:solidFill>
                <a:latin typeface="Arial"/>
              </a:rPr>
              <a:t>Time · </a:t>
            </a:r>
            <a:r>
              <a:rPr sz="910">
                <a:solidFill>
                  <a:srgbClr val="1C2A22"/>
                </a:solidFill>
                <a:latin typeface="Arial"/>
              </a:rPr>
              <a:t>1×, 60×, 600× or 3000×</a:t>
            </a:r>
          </a:p>
          <a:p>
            <a:pPr>
              <a:spcAft>
                <a:spcPts val="350"/>
              </a:spcAft>
            </a:pPr>
            <a:r>
              <a:rPr sz="910" b="1">
                <a:solidFill>
                  <a:srgbClr val="193E2C"/>
                </a:solidFill>
                <a:latin typeface="Arial"/>
              </a:rPr>
              <a:t>Faults · </a:t>
            </a:r>
            <a:r>
              <a:rPr sz="910">
                <a:solidFill>
                  <a:srgbClr val="1C2A22"/>
                </a:solidFill>
                <a:latin typeface="Arial"/>
              </a:rPr>
              <a:t>cloud, heat, outage, probe, open door</a:t>
            </a:r>
          </a:p>
          <a:p>
            <a:pPr>
              <a:spcAft>
                <a:spcPts val="350"/>
              </a:spcAft>
            </a:pPr>
            <a:r>
              <a:rPr sz="910" b="1">
                <a:solidFill>
                  <a:srgbClr val="193E2C"/>
                </a:solidFill>
                <a:latin typeface="Arial"/>
              </a:rPr>
              <a:t>People · </a:t>
            </a:r>
            <a:r>
              <a:rPr sz="910">
                <a:solidFill>
                  <a:srgbClr val="1C2A22"/>
                </a:solidFill>
                <a:latin typeface="Arial"/>
              </a:rPr>
              <a:t>approve, skip or stop the pump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40700" y="3898900"/>
            <a:ext cx="3759199" cy="1397000"/>
          </a:xfrm>
          <a:prstGeom prst="rect">
            <a:avLst/>
          </a:prstGeom>
          <a:solidFill>
            <a:srgbClr val="FFFFFF"/>
          </a:solidFill>
          <a:ln>
            <a:solidFill>
              <a:srgbClr val="D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40700" y="3898900"/>
            <a:ext cx="3759199" cy="279400"/>
          </a:xfrm>
          <a:prstGeom prst="rect">
            <a:avLst/>
          </a:prstGeom>
          <a:solidFill>
            <a:srgbClr val="193E2C"/>
          </a:solidFill>
          <a:ln>
            <a:solidFill>
              <a:srgbClr val="19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7699" y="3962399"/>
            <a:ext cx="34290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WHAT IT PROVES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54500"/>
            <a:ext cx="3556000" cy="1003300"/>
          </a:xfrm>
          <a:prstGeom prst="rect">
            <a:avLst/>
          </a:prstGeom>
          <a:noFill/>
        </p:spPr>
        <p:txBody>
          <a:bodyPr wrap="square" lIns="63500" rIns="63500" tIns="25400">
            <a:spAutoFit/>
          </a:bodyPr>
          <a:lstStyle/>
          <a:p>
            <a:pPr>
              <a:spcAft>
                <a:spcPts val="350"/>
              </a:spcAft>
            </a:pPr>
            <a:r>
              <a:rPr sz="910" b="1">
                <a:solidFill>
                  <a:srgbClr val="193E2C"/>
                </a:solidFill>
                <a:latin typeface="Arial"/>
              </a:rPr>
              <a:t>Priority · </a:t>
            </a:r>
            <a:r>
              <a:rPr sz="910">
                <a:solidFill>
                  <a:srgbClr val="1C2A22"/>
                </a:solidFill>
                <a:latin typeface="Arial"/>
              </a:rPr>
              <a:t>critical cold load always comes first</a:t>
            </a:r>
          </a:p>
          <a:p>
            <a:pPr>
              <a:spcAft>
                <a:spcPts val="350"/>
              </a:spcAft>
            </a:pPr>
            <a:r>
              <a:rPr sz="910" b="1">
                <a:solidFill>
                  <a:srgbClr val="193E2C"/>
                </a:solidFill>
                <a:latin typeface="Arial"/>
              </a:rPr>
              <a:t>Safety · </a:t>
            </a:r>
            <a:r>
              <a:rPr sz="910">
                <a:solidFill>
                  <a:srgbClr val="1C2A22"/>
                </a:solidFill>
                <a:latin typeface="Arial"/>
              </a:rPr>
              <a:t>daylight water + ice-backed cooling</a:t>
            </a:r>
          </a:p>
          <a:p>
            <a:pPr>
              <a:spcAft>
                <a:spcPts val="350"/>
              </a:spcAft>
            </a:pPr>
            <a:r>
              <a:rPr sz="910" b="1">
                <a:solidFill>
                  <a:srgbClr val="193E2C"/>
                </a:solidFill>
                <a:latin typeface="Arial"/>
              </a:rPr>
              <a:t>Evidence · </a:t>
            </a:r>
            <a:r>
              <a:rPr sz="910">
                <a:solidFill>
                  <a:srgbClr val="1C2A22"/>
                </a:solidFill>
                <a:latin typeface="Arial"/>
              </a:rPr>
              <a:t>exact kWh ledger and run report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7500" y="5448300"/>
            <a:ext cx="11582400" cy="1054100"/>
          </a:xfrm>
          <a:prstGeom prst="rect">
            <a:avLst/>
          </a:prstGeom>
          <a:solidFill>
            <a:srgbClr val="FBF8EC"/>
          </a:solidFill>
          <a:ln>
            <a:solidFill>
              <a:srgbClr val="EA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17500" y="5448300"/>
            <a:ext cx="1651000" cy="1054100"/>
          </a:xfrm>
          <a:prstGeom prst="rect">
            <a:avLst/>
          </a:prstGeom>
          <a:solidFill>
            <a:srgbClr val="EAAA22"/>
          </a:solidFill>
          <a:ln>
            <a:solidFill>
              <a:srgbClr val="EA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4500" y="5626100"/>
            <a:ext cx="13970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3E2C"/>
                </a:solidFill>
                <a:latin typeface="Arial"/>
              </a:rPr>
              <a:t>D4 SOFTWARE
PROTOTYPE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500" y="6134100"/>
            <a:ext cx="13970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93E2C"/>
                </a:solidFill>
                <a:latin typeface="Arial"/>
              </a:rPr>
              <a:t>Before hardware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95499" y="5588000"/>
            <a:ext cx="3175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AA22"/>
                </a:solidFill>
                <a:latin typeface="Arial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38400" y="5626100"/>
            <a:ext cx="17145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93E2C"/>
                </a:solidFill>
                <a:latin typeface="Arial"/>
              </a:rPr>
              <a:t>INJECT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8200" y="5943600"/>
            <a:ext cx="21463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1C2A22"/>
                </a:solidFill>
                <a:latin typeface="Arial"/>
              </a:rPr>
              <a:t>Change weather or break a sensor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51350" y="5549900"/>
            <a:ext cx="12700" cy="850900"/>
          </a:xfrm>
          <a:prstGeom prst="rect">
            <a:avLst/>
          </a:prstGeom>
          <a:solidFill>
            <a:srgbClr val="D6DFD2"/>
          </a:solidFill>
          <a:ln>
            <a:solidFill>
              <a:srgbClr val="D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8350" y="5588000"/>
            <a:ext cx="3175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AA22"/>
                </a:solidFill>
                <a:latin typeface="Arial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21250" y="5626100"/>
            <a:ext cx="17145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93E2C"/>
                </a:solidFill>
                <a:latin typeface="Arial"/>
              </a:rPr>
              <a:t>OBSERVE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91050" y="5943600"/>
            <a:ext cx="21463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1C2A22"/>
                </a:solidFill>
                <a:latin typeface="Arial"/>
              </a:rPr>
              <a:t>Watch power, soil and cold state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34200" y="5549900"/>
            <a:ext cx="12700" cy="850900"/>
          </a:xfrm>
          <a:prstGeom prst="rect">
            <a:avLst/>
          </a:prstGeom>
          <a:solidFill>
            <a:srgbClr val="D6DFD2"/>
          </a:solidFill>
          <a:ln>
            <a:solidFill>
              <a:srgbClr val="D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61200" y="5588000"/>
            <a:ext cx="3175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AA22"/>
                </a:solidFill>
                <a:latin typeface="Arial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4099" y="5626100"/>
            <a:ext cx="17145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93E2C"/>
                </a:solidFill>
                <a:latin typeface="Arial"/>
              </a:rPr>
              <a:t>DECIDE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73900" y="5943600"/>
            <a:ext cx="21463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1C2A22"/>
                </a:solidFill>
                <a:latin typeface="Arial"/>
              </a:rPr>
              <a:t>Approve or override the action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17050" y="5549900"/>
            <a:ext cx="12700" cy="850900"/>
          </a:xfrm>
          <a:prstGeom prst="rect">
            <a:avLst/>
          </a:prstGeom>
          <a:solidFill>
            <a:srgbClr val="D6DFD2"/>
          </a:solidFill>
          <a:ln>
            <a:solidFill>
              <a:srgbClr val="D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44050" y="5588000"/>
            <a:ext cx="3175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AA22"/>
                </a:solidFill>
                <a:latin typeface="Arial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86950" y="5626100"/>
            <a:ext cx="17145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93E2C"/>
                </a:solidFill>
                <a:latin typeface="Arial"/>
              </a:rPr>
              <a:t>VERIFY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6750" y="5943600"/>
            <a:ext cx="21463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1C2A22"/>
                </a:solidFill>
                <a:latin typeface="Arial"/>
              </a:rPr>
              <a:t>Export evidence against targets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